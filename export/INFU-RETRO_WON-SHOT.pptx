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</p:sldIdLst>
  <p:notesMasterIdLst>
    <p:notesMasterId r:id="rId4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표지" id="{985b9c9f-7737-c0c3-84b3-8001a717edcb}">
          <p14:sldIdLst>
            <p14:sldId id="256"/>
          </p14:sldIdLst>
        </p14:section>
        <p14:section name="01 문제 배경" id="{dde62ee1-28e6-6750-cf11-8b33356a53fa}">
          <p14:sldIdLst>
            <p14:sldId id="257"/>
            <p14:sldId id="258"/>
            <p14:sldId id="259"/>
          </p14:sldIdLst>
        </p14:section>
        <p14:section name="02 기존 시스템의 한계" id="{ba4777e5-48fa-e4bc-b48f-925d462bd923}">
          <p14:sldIdLst>
            <p14:sldId id="260"/>
          </p14:sldIdLst>
        </p14:section>
        <p14:section name="03 아이디어 소개" id="{77a709ab-9809-355f-d576-4c39e3656802}">
          <p14:sldIdLst>
            <p14:sldId id="261"/>
            <p14:sldId id="262"/>
            <p14:sldId id="263"/>
          </p14:sldIdLst>
        </p14:section>
        <p14:section name="04 시연" id="{0b98a6b8-e3bd-5edd-7ba3-feb0f4f4d4ca}">
          <p14:sldIdLst>
            <p14:sldId id="264"/>
            <p14:sldId id="265"/>
            <p14:sldId id="266"/>
          </p14:sldIdLst>
        </p14:section>
        <p14:section name="05 시장분석" id="{b08f8e05-f447-135e-d13d-38f2e4abd1a7}">
          <p14:sldIdLst>
            <p14:sldId id="267"/>
          </p14:sldIdLst>
        </p14:section>
        <p14:section name="06 차별점" id="{6ee78725-a262-d440-ce06-172385addd44}">
          <p14:sldIdLst>
            <p14:sldId id="268"/>
            <p14:sldId id="269"/>
          </p14:sldIdLst>
        </p14:section>
        <p14:section name="07 제품 원가" id="{31b7bcd3-738c-9838-f79c-1ac2a9fc332f}">
          <p14:sldIdLst>
            <p14:sldId id="270"/>
          </p14:sldIdLst>
        </p14:section>
        <p14:section name="08 MOU 체결 현황" id="{8846941b-6b4d-2466-10c1-95180e80b893}">
          <p14:sldIdLst>
            <p14:sldId id="271"/>
          </p14:sldIdLst>
        </p14:section>
        <p14:section name="09 시장 진입 전략" id="{79f54591-9660-6ebb-2af0-2f0ae463e541}">
          <p14:sldIdLst>
            <p14:sldId id="272"/>
          </p14:sldIdLst>
        </p14:section>
        <p14:section name="10 비즈니스 모델" id="{65b391eb-f109-63ee-1f0d-e8c4a90fc2ae}">
          <p14:sldIdLst>
            <p14:sldId id="273"/>
          </p14:sldIdLst>
        </p14:section>
        <p14:section name="11 기대효과" id="{642bf3ad-34ea-cebb-b5d7-eaa1ab6ebdae}">
          <p14:sldIdLst>
            <p14:sldId id="274"/>
          </p14:sldIdLst>
        </p14:section>
        <p14:section name="12 팀 소개" id="{299c53a4-ef50-58ee-c865-e30f5215244d}">
          <p14:sldIdLst>
            <p14:sldId id="275"/>
          </p14:sldIdLst>
        </p14:section>
        <p14:section name="마무리" id="{b7dd0e65-75c0-f99a-109c-52cde31a48df}">
          <p14:sldIdLst>
            <p14:sldId id="276"/>
          </p14:sldIdLst>
        </p14:section>
        <p14:section name="부록" id="{2adffcc6-d08d-c28f-1eb9-1c40f1205139}">
          <p14:sldIdLst>
            <p14:sldId id="277"/>
            <p14:sldId id="278"/>
            <p14:sldId id="279"/>
            <p14:sldId id="280"/>
            <p14:sldId id="281"/>
            <p14:sldId id="282"/>
            <p14:sldId id="283"/>
            <p14:sldId id="284"/>
            <p14:sldId id="285"/>
            <p14:sldId id="286"/>
            <p14:sldId id="287"/>
            <p14:sldId id="288"/>
            <p14:sldId id="289"/>
            <p14:sldId id="290"/>
            <p14:sldId id="291"/>
            <p14:sldId id="292"/>
            <p14:sldId id="293"/>
            <p14:sldId id="294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notesMaster" Target="notesMasters/notesMaster1.xml"/><Relationship Id="rId42" Type="http://schemas.openxmlformats.org/officeDocument/2006/relationships/presProps" Target="presProps.xml"/><Relationship Id="rId43" Type="http://schemas.openxmlformats.org/officeDocument/2006/relationships/viewProps" Target="viewProps.xml"/><Relationship Id="rId44" Type="http://schemas.openxmlformats.org/officeDocument/2006/relationships/theme" Target="theme/theme1.xml"/><Relationship Id="rId4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 / 21 · 대본 약 8초
</a:t>
            </a:r>
            <a:br/>
            <a:r>
              <a:rPr lang="ko-KR" dirty="0"/>
              <a:t>안녕하십니까, 팀 WON SHOT입니다. 입원 동물의 수액을, 링거폴대 그대로 지키는 솔루션을 소개합니다.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 / 21 · 대본 약 15초
</a:t>
            </a:r>
            <a:br/>
            <a:r>
              <a:rPr lang="ko-KR" dirty="0"/>
              <a:t>새벽 3시, 동물병원 입원실입니다. 보호자는 집에 있고, 당직 수의사는 다른 환자를 봅니다.
</a:t>
            </a:r>
            <a:br/>
            <a:r>
              <a:rPr lang="ko-KR" dirty="0"/>
              <a:t>이 시간 수액에 생긴 일은 확인되지도, 기록되지도 않습니다. 저희가 푸는 문제는 이 두 공백입니다.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3 / 21 · 대본 약 14초
</a:t>
            </a:r>
            <a:br/>
            <a:r>
              <a:rPr lang="ko-KR" dirty="0"/>
              <a:t>첫째, 확인 공백입니다. 입원 동물 수액 카테터의 26.7%에서 정맥염이나 빠짐 같은 합병증이 생깁니다.
</a:t>
            </a:r>
            <a:br/>
            <a:r>
              <a:rPr lang="ko-KR" dirty="0"/>
              <a:t>그런데 24시간 지켜보는 병원은 서울 100곳 중 8곳뿐입니다.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4 / 21 · 대본 약 16초
</a:t>
            </a:r>
            <a:br/>
            <a:r>
              <a:rPr lang="ko-KR" dirty="0"/>
              <a:t>둘째, 기록 공백입니다. 피해구제 신청은 4년 만에 세 배로 늘었습니다.
</a:t>
            </a:r>
            <a:br/>
            <a:r>
              <a:rPr lang="ko-KR" dirty="0"/>
              <a:t>진료기록이 있으면 30%가 해결되지만, 없으면 19.5%에 그칩니다. 기록이 자동으로 남아야 하는 이유입니다.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5 / 21 · 대본 약 20초
</a:t>
            </a:r>
            <a:br/>
            <a:r>
              <a:rPr lang="ko-KR" dirty="0"/>
              <a:t>손 기록엔 빈칸이 생기고, 병원 열 곳 중 일곱 곳은 수의사 한 명이라 순회 사이를 못 봅니다.
</a:t>
            </a:r>
            <a:br/>
            <a:r>
              <a:rPr lang="ko-KR" dirty="0"/>
              <a:t>장비는 110만 원 펌프, 100만 원이 넘는 다중 센서 폴대라 너무 비쌉니다. 그래서 필요한 건, 자동으로 남고 24시간 지키는, 기존 폴대에 붙는 센서 하나입니다.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6 / 21 · 대본 약 16초
</a:t>
            </a:r>
            <a:br/>
            <a:r>
              <a:rPr lang="ko-KR" dirty="0"/>
              <a:t>저희는 현장에서 시작했습니다. 전북 지역 병원을 찾아가 인터뷰하며 데이터를 모았고, 원광대 간호학과와 모의 병실을 꾸려 실험했습니다.
</a:t>
            </a:r>
            <a:br/>
            <a:r>
              <a:rPr lang="ko-KR" dirty="0"/>
              <a:t>수의과대학과 유통사에서는 구매 의사까지 확인했습니다.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7 / 21 · 대본 약 20초
</a:t>
            </a:r>
            <a:br/>
            <a:r>
              <a:rPr lang="ko-KR" dirty="0"/>
              <a:t>해법은 INFU RETRO, 링거폴대에 거는 무게센서 모듈 하나입니다. 1초마다 수액 무게를 재고, 칼만필터로 흔들림을 거르고, CNN이 이상을 판별합니다.
</a:t>
            </a:r>
            <a:br/>
            <a:r>
              <a:rPr lang="ko-KR" dirty="0"/>
              <a:t>걸고, 재고, 알립니다. 폴대 교체도 공구도 필요 없고, 네 개를 함께 재는 폴대 걸이형도 있습니다.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8 / 21 · 대본 약 18초
</a:t>
            </a:r>
            <a:br/>
            <a:r>
              <a:rPr lang="ko-KR" dirty="0"/>
              <a:t>기존 스마트 폴대는 자이로, 가속도 센서를 더해 제작비가 100만 원을 넘습니다.
</a:t>
            </a:r>
            <a:br/>
            <a:r>
              <a:rPr lang="ko-KR" dirty="0"/>
              <a:t>저희는 학습할 때만 자이로를 달아, 흔들릴 때 무게가 얼마나 틀어지는지 배우게 했습니다. 그 보정 덕분에 제품에는 무게센서 하나만 남았습니다.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9 / 21 · 대본 약 12초
</a:t>
            </a:r>
            <a:br/>
            <a:r>
              <a:rPr lang="ko-KR" dirty="0"/>
              <a:t>실제 시연입니다. 수액백을 걸고 유속을 바꾸면, 빠를 때도 느릴 때도 대시보드와 휴대폰에 바로 알림이 뜹니다.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10 / 21 · 대본 약 17초
</a:t>
            </a:r>
            <a:br/>
            <a:r>
              <a:rPr lang="ko-KR" dirty="0"/>
              <a:t>알고리즘은 논문으로 검증했습니다. 유속을 느림, 정상, 빠름 세 상태로 바꾸고, 16개를 4×4 패턴으로 만들어 CNN이 봅니다. 순간 흔들림과 진짜 이상을 구분합니다.
</a:t>
            </a:r>
            <a:br/>
            <a:r>
              <a:rPr lang="ko-KR" dirty="0"/>
              <a:t>경량 모델이라 기기 안에서 바로 판정합니다.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11 / 21 · 대본 약 18초
</a:t>
            </a:r>
            <a:br/>
            <a:r>
              <a:rPr lang="ko-KR" dirty="0"/>
              <a:t>당겨짐과 흔들림을 1,000회 반복한 시험에서, 잔량 오차 3% 이내, 이상 감지 5초 이내, 판별 정확도 97.3%를 확인했습니다.
</a:t>
            </a:r>
            <a:br/>
            <a:r>
              <a:rPr lang="ko-KR" dirty="0"/>
              <a:t>특허 3건이 심사 중이고, 다음은 전북 동물병원 입원실에서 실제 환경으로 다시 검증합니다.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12 / 21 · 대본 약 17초
</a:t>
            </a:r>
            <a:br/>
            <a:r>
              <a:rPr lang="ko-KR" dirty="0"/>
              <a:t>반려가구는 29.2%로 역대 최대, 동물병원은 5,312곳입니다.
</a:t>
            </a:r>
            <a:br/>
            <a:r>
              <a:rPr lang="ko-KR" dirty="0"/>
              <a:t>진료기록 발급 의무화가 추진되고, 마약류 처방은 3년 새 37% 늘었습니다. 기록을 요구하는 지금이 진입 시점입니다.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13 / 21 · 대본 약 13초
</a:t>
            </a:r>
            <a:br/>
            <a:r>
              <a:rPr lang="ko-KR" dirty="0"/>
              <a:t>대안과 비교하면, 펌프는 비싸고, 다른 제품은 사람 병원용이거나 폴대를 바꿔야 합니다.
</a:t>
            </a:r>
            <a:br/>
            <a:r>
              <a:rPr lang="ko-KR" dirty="0"/>
              <a:t>INFU RETRO는 25만 원에, 기존 폴대에 끼우는 동물병원 전용 제품입니다.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14 / 21 · 대본 약 14초
</a:t>
            </a:r>
            <a:br/>
            <a:r>
              <a:rPr lang="ko-KR" dirty="0"/>
              <a:t>인허가도 가볍습니다. 동물 전용 기기는 식약처가 아니라 농림축산검역본부 소관입니다.
</a:t>
            </a:r>
            <a:br/>
            <a:r>
              <a:rPr lang="ko-KR" dirty="0"/>
              <a:t>몸에 닿지 않고 주입도 제어하지 않아, 신고만 하면 되는 가장 낮은 1등급 기준에 맞습니다.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15 / 21 · 대본 약 10초
</a:t>
            </a:r>
            <a:br/>
            <a:r>
              <a:rPr lang="ko-KR" dirty="0"/>
              <a:t>센서를 하나로 줄여 원가는 8만 원, 25만 원에 팔면 대당 17만 원이 남습니다.
</a:t>
            </a:r>
            <a:br/>
            <a:r>
              <a:rPr lang="ko-KR" dirty="0"/>
              <a:t>월 12만 원 구독료에는 관리비가 포함됩니다.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16 / 21 · 대본 약 12초
</a:t>
            </a:r>
            <a:br/>
            <a:r>
              <a:rPr lang="ko-KR" dirty="0"/>
              <a:t>판로는 문서로 확인했습니다. 전남대 수의과대학 구매의향서, ㈜씨엔 최소 300개 공급 약정, 그리고 유통사 SKM&amp;M과 5,000만 원 규모 MOU입니다.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17 / 21 · 대본 약 11초
</a:t>
            </a:r>
            <a:br/>
            <a:r>
              <a:rPr lang="ko-KR" dirty="0"/>
              <a:t>전국 5,312곳, 약 449억 원 시장 가운데 호남권 300곳을 먼저 공략해, 3년 안에 50곳 250대, 연 4억 원 규모를 만듭니다.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18 / 21 · 대본 약 18초
</a:t>
            </a:r>
            <a:br/>
            <a:r>
              <a:rPr lang="ko-KR" dirty="0"/>
              <a:t>모듈은 대당 25만 원에 한 번 팔고, 관제 구독으로 대당 월 12만 원을 매달 받습니다. 직접 판매와 유통 파트너로 동물병원, 수의대, 동물원에 팔고, 인증을 거쳐 사람 대형병원과 간호인력이 부족한 해외 시설로 넓힙니다.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19 / 21 · 대본 약 17초
</a:t>
            </a:r>
            <a:br/>
            <a:r>
              <a:rPr lang="ko-KR" dirty="0"/>
              <a:t>사람 병원에선 효과가 확인됐습니다. 근무조당 병실 방문이 두 번 줄었다는 응답이 나왔고, 이상 알림 뒤 평균 2분 만에 대응했습니다.
</a:t>
            </a:r>
            <a:br/>
            <a:r>
              <a:rPr lang="ko-KR" dirty="0"/>
              <a:t>동물병원은 순회와 기록 부담을 덜고, 반려동물은 이상을 먼저 발견합니다.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20 / 21 · 대본 약 8초
</a:t>
            </a:r>
            <a:br/>
            <a:r>
              <a:rPr lang="ko-KR" dirty="0"/>
              <a:t>개발팀 네 명이 하드웨어와 AI, 서버를, 의료실증팀 세 명이 현장 시험을 맡은 팀, WON SHOT입니다.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21 / 21 · 대본 약 6초
</a:t>
            </a:r>
            <a:br/>
            <a:r>
              <a:rPr lang="ko-KR" dirty="0"/>
              <a:t>기술로 피워내는 따뜻한 돌봄의 미래, INFU RETRO가 만들겠습니다. 감사합니다.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부록 A1
</a:t>
            </a:r>
            <a:br/>
            <a:r>
              <a:rPr lang="ko-KR" dirty="0"/>
              <a:t>질의응답용: 전체 구조입니다. 로드셀 하나로 1초마다 무게를 재고, 모듈 안의 ESP32가 칼만필터와 CNN으로 바로 판정합니다.
</a:t>
            </a:r>
            <a:br/>
            <a:r>
              <a:rPr lang="ko-KR" dirty="0"/>
              <a:t>이벤트는 MQTT로 보내 서버에 기록하고, 대시보드와 휴대폰에 알립니다. 판정을 기기에서 하니 서버 응답을 기다리지 않습니다.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부록 A2
</a:t>
            </a:r>
            <a:br/>
            <a:r>
              <a:rPr lang="ko-KR" dirty="0"/>
              <a:t>질의응답용: 로드셀 신호가 ADC까지 가는 길을 짧게 두고, 입력단 RC 필터와 아날로그 전원 LC 필터로 잡음을 막았습니다.
</a:t>
            </a:r>
            <a:br/>
            <a:r>
              <a:rPr lang="ko-KR" dirty="0"/>
              <a:t>ADS1232가 증폭과 24비트 변환을 함께 하고, 디지털부인 ESP32는 뒷면에 따로 두었습니다.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부록 A3
</a:t>
            </a:r>
            <a:br/>
            <a:r>
              <a:rPr lang="ko-KR" dirty="0"/>
              <a:t>질의응답용: 네 단계 파이프라인과 CNN 학습 로그입니다. 97.3%는 마지막 6 epoch 검증 정확도의 평균이고, 범위는 95.2~99.0%입니다.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부록 A4
</a:t>
            </a:r>
            <a:br/>
            <a:r>
              <a:rPr lang="ko-KR" dirty="0"/>
              <a:t>질의응답용: 거치 직후 기준 유속을 스스로 재고, 순간 유속이 기준에서 얼마나 벗어났는지를 빠름 · 정상 · 느림 세 상태로 바꿉니다.
</a:t>
            </a:r>
            <a:br/>
            <a:r>
              <a:rPr lang="ko-KR" dirty="0"/>
              <a:t>연속 16개 상태를 4×4 이미지로 만들어, 한 시점이 아니라 시간 흐름의 모양으로 판단합니다.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부록 A5
</a:t>
            </a:r>
            <a:br/>
            <a:r>
              <a:rPr lang="ko-KR" dirty="0"/>
              <a:t>질의응답용: 판정 모델은 합성곱 한 층과 완전연결 두 층의 작은 CNN입니다. 파라미터는 약 660개, 메모리 약 10KB라 ESP32 안에서 통신 스택과 함께 돕니다.
</a:t>
            </a:r>
            <a:br/>
            <a:r>
              <a:rPr lang="ko-KR" dirty="0"/>
              <a:t>선행 방식과 달리 사용자 입력과 점적 계수가 필요 없고, 한 시점이 아닌 16개 상태의 패턴으로 판단합니다.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부록 A6
</a:t>
            </a:r>
            <a:br/>
            <a:r>
              <a:rPr lang="ko-KR" dirty="0"/>
              <a:t>질의응답용: 의료 데이터로 먼저 학습한 가중치를 가져와, 모의 병실에서 모은 실측 데이터로 미세 조정했습니다.
</a:t>
            </a:r>
            <a:br/>
            <a:r>
              <a:rPr lang="ko-KR" dirty="0"/>
              <a:t>실측 데이터를 나눠 번갈아 검증했고, 최근 6 epoch 검증 정확도 평균이 97.3%입니다. 완성된 모델은 약 10KB로 ESP32에 올립니다.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부록 A7
</a:t>
            </a:r>
            <a:br/>
            <a:r>
              <a:rPr lang="ko-KR" dirty="0"/>
              <a:t>질의응답용: 학습 장비에서 무게와 자이로를 함께 기록해, 폴대가 흔들릴 때 무게 편차가 자이로 값과 0.95로 함께 움직이는 것을 확인했습니다.
</a:t>
            </a:r>
            <a:br/>
            <a:r>
              <a:rPr lang="ko-KR" dirty="0"/>
              <a:t>이 관계로 보정을 튜닝해 두면, 제품에는 자이로 없이 무게센서 하나만 넣어도 편차가 2.1 g에서 0.5 g으로 줄어듭니다.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부록 A8
</a:t>
            </a:r>
            <a:br/>
            <a:r>
              <a:rPr lang="ko-KR" dirty="0"/>
              <a:t>질의응답용: 폴대 걸이형 INFU입니다. 폴대 꼭대기에 십자형 걸이를 끼우는 형태로, 갈고리 네 곳마다 로드셀이 들어갑니다.
</a:t>
            </a:r>
            <a:br/>
            <a:r>
              <a:rPr lang="ko-KR" dirty="0"/>
              <a:t>왼쪽이 실물 시제품, 가운데가 구조 렌더 영상, 오른쪽이 2차 구상도와 부품 리스트입니다.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부록 A9
</a:t>
            </a:r>
            <a:br/>
            <a:r>
              <a:rPr lang="ko-KR" dirty="0"/>
              <a:t>질의응답용: 국내 학회 발표 논문 전문입니다.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부록 A10
</a:t>
            </a:r>
            <a:br/>
            <a:r>
              <a:rPr lang="ko-KR" dirty="0"/>
              <a:t>질의응답용: ㈜씨엔과 맺은 물품공급 및 판매 약정서 전문입니다.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부록 A11
</a:t>
            </a:r>
            <a:br/>
            <a:r>
              <a:rPr lang="ko-KR" dirty="0"/>
              <a:t>질의응답용: ㈜에스케이엠엔엠과 맺은 구매의향 및 사업협력 업무협약서 전문입니다.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부록 A12
</a:t>
            </a:r>
            <a:br/>
            <a:r>
              <a:rPr lang="ko-KR" dirty="0"/>
              <a:t>질의응답용: 마약류 처방량 추이와 기록을 요구하는 규제 흐름입니다. 진료기록 발급 의무화는 아직 국회 의결 단계라 시행일이 정해지지 않았습니다.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부록 A13
</a:t>
            </a:r>
            <a:br/>
            <a:r>
              <a:rPr lang="ko-KR" dirty="0"/>
              <a:t>질의응답용: 업무 부담 완화 근거입니다. 사람 병원 연구 두 편과 동물병원 인력 구조입니다.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부록 A14
</a:t>
            </a:r>
            <a:br/>
            <a:r>
              <a:rPr lang="ko-KR" dirty="0"/>
              <a:t>질의응답용: 4장 분쟁 자료의 상세입니다. 처리된 121건 중 해결은 32건이고, 진료부가 있으면 30%, 없으면 19.5%가 해결됐습니다.
</a:t>
            </a:r>
            <a:br/>
            <a:r>
              <a:rPr lang="ko-KR" dirty="0"/>
              <a:t>신청 사유의 75%가 진료상 과실이고 그중 처치 미흡이 가장 많습니다. 소비자원도 객관적 기록을 남기라고 권했습니다.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부록 A15
</a:t>
            </a:r>
            <a:br/>
            <a:r>
              <a:rPr lang="ko-KR" dirty="0"/>
              <a:t>질의응답용: 3장 26.7%의 근거입니다. 연구마다 19.9에서 46.6%까지 다르고, 가장 큰 다기관 연구의 값을 썼습니다. 단위는 동물이 아니라 카테터입니다.
</a:t>
            </a:r>
            <a:br/>
            <a:r>
              <a:rPr lang="ko-KR" dirty="0"/>
              <a:t>무게로는 막힘과 빠짐을 직접 잡고, 정맥염은 유속이 느려질 때 간접적으로만 보입니다.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부록 A16
</a:t>
            </a:r>
            <a:br/>
            <a:r>
              <a:rPr lang="ko-KR" dirty="0"/>
              <a:t>질의응답용: 보호자 지출과 시장 규모 산출식입니다. 최근 2년 치료비는 전체 가구 평균 57.7만 원에서 102.7만 원으로 늘었습니다.
</a:t>
            </a:r>
            <a:br/>
            <a:r>
              <a:rPr lang="ko-KR" dirty="0"/>
              <a:t>시장 규모는 병원당 5대, 장비와 첫해 구독을 더한 845만 원에 병원 수를 곱했습니다.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부록 A17
</a:t>
            </a:r>
            <a:br/>
            <a:r>
              <a:rPr lang="ko-KR" dirty="0"/>
              <a:t>질의응답용: 보호자가 반려동물에 사람 수준으로 돈을 쓰는 실제 사례입니다. 청담동 반려견 오마카세는 7코스에 최대 7만 8천 원, 서울 반려견 유치원은 대형견 월 34만 원입니다.
</a:t>
            </a:r>
            <a:br/>
            <a:r>
              <a:rPr lang="ko-KR" dirty="0"/>
              <a:t>G마켓에서는 개모차가 유모차보다 많이 팔렸고, 장례 처리 건수는 2년 새 두 배가 됐습니다.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부록 A18
</a:t>
            </a:r>
            <a:br/>
            <a:r>
              <a:rPr lang="ko-KR" dirty="0"/>
              <a:t>질의응답용: 숫자로 본 지출 추세입니다. 펫보험 보유계약은 3년 새 3.5배인 25만 건이 됐고, 연 50만 원 이상 쓰는 고객은 4년 새 41% 늘었습니다.
</a:t>
            </a:r>
            <a:br/>
            <a:r>
              <a:rPr lang="ko-KR" dirty="0"/>
              <a:t>지출이 커진 만큼 진료 분쟁도 늘어, 기록의 필요가 커집니다.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jpeg"/><Relationship Id="rId2" Type="http://schemas.openxmlformats.org/officeDocument/2006/relationships/video" Target="../media/media-9-2.mp4"/><Relationship Id="rId3" Type="http://schemas.microsoft.com/office/2007/relationships/media" Target="../media/media-9-2.mp4"/><Relationship Id="rId4" Type="http://schemas.openxmlformats.org/officeDocument/2006/relationships/image" Target="../media/image-9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8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9-1.jpeg"/><Relationship Id="rId2" Type="http://schemas.openxmlformats.org/officeDocument/2006/relationships/video" Target="../media/media-29-2.mp4"/><Relationship Id="rId3" Type="http://schemas.microsoft.com/office/2007/relationships/media" Target="../media/media-29-2.mp4"/><Relationship Id="rId4" Type="http://schemas.openxmlformats.org/officeDocument/2006/relationships/image" Target="../media/image-29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0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1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2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3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4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5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6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7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8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9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반려동물 주사약물 투약 관리 AIoT 솔루션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새벽 3시, 동물병원 입원실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① 확인 공백 — 26.7%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② 기록 공백 — 해결률 19.5%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지금 방식으로는 두 공백을 메울 수 없습니다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현장에서 듣고 만들었습니다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INFU RETRO — 링거폴대에 모듈 하나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센서는 줄이고, 학습으로 채웠습니다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시연 영상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4" name="Media 0">
            <a:hlinkClick r:id="" action="ppaction://media"/>
          </p:cNvPr>
          <p:cNvPicPr>
            <a:picLocks noChangeAspect="1"/>
          </p:cNvPicPr>
          <p:nvPr>
            <a:videoFile r:link="rId2"/>
            <p:extLst>
              <p:ext uri="{DAA4B4D4-6D71-4841-9C94-3DE7FCFB9230}">
                <p14:media xmlns:p14="http://schemas.microsoft.com/office/powerpoint/2010/main" r:embed="rId3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762031" y="1413570"/>
            <a:ext cx="6897515" cy="3879949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" fill="hold"/>
                                        <p:tgtEl>
                                          <p:spTgt spid="4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video>
              <p:cMediaNode vol="80000" mute="1">
                <p:cTn id="7" fill="hold" display="0">
                  <p:stCondLst>
                    <p:cond delay="indefinite"/>
                  </p:stCondLst>
                  <p:endCondLst>
                    <p:cond evt="onNext" delay="0">
                      <p:tgtEl>
                        <p:sldTgt/>
                      </p:tgtEl>
                    </p:cond>
                  </p:endCondLst>
                </p:cTn>
                <p:tgtEl>
                  <p:spTgt spid="4"/>
                </p:tgtEl>
              </p:cMediaNode>
            </p:video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논문 — 상태 패턴 분석 기반 수액 이상 감지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검증 성과 — 숫자로 증명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시장 — 수요와 기록 의무화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차별점 — 대안 비교와 IP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인허가 — 사람용 의료기기 허가 없이 공급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제품 원가와 수익 구조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구매의향 · 공급 약정 · MOU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전북에서 증명하고, 전국 5,312곳으로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모듈은 한 번, 관제는 매달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순회는 줄이고, 먼저 알아챕니다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팀 WON SHO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기술로 피워내는 따뜻한 돌봄의 미래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부록 · 시스템 구성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부록 · 하드웨어 · 잡음 설계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부록 · 핵심 알고리즘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부록 · 판별 파이프라인 ① 패턴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부록 · 판별 파이프라인 ② 경량 CN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부록 · 데이터 구축 · 학습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부록 · 센서 절감 학습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부록 · INFU 폴대 걸이형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4" name="Media 0">
            <a:hlinkClick r:id="" action="ppaction://media"/>
          </p:cNvPr>
          <p:cNvPicPr>
            <a:picLocks noChangeAspect="1"/>
          </p:cNvPicPr>
          <p:nvPr>
            <a:videoFile r:link="rId2"/>
            <p:extLst>
              <p:ext uri="{DAA4B4D4-6D71-4841-9C94-3DE7FCFB9230}">
                <p14:media xmlns:p14="http://schemas.microsoft.com/office/powerpoint/2010/main" r:embed="rId3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4190697" y="1559620"/>
            <a:ext cx="2863580" cy="4133155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" fill="hold"/>
                                        <p:tgtEl>
                                          <p:spTgt spid="4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video>
              <p:cMediaNode vol="80000" mute="1">
                <p:cTn id="7" fill="hold" display="0" repeatCount="indefinite">
                  <p:stCondLst>
                    <p:cond delay="indefinite"/>
                  </p:stCondLst>
                  <p:endCondLst>
                    <p:cond evt="onNext" delay="0">
                      <p:tgtEl>
                        <p:sldTgt/>
                      </p:tgtEl>
                    </p:cond>
                  </p:endCondLst>
                </p:cTn>
                <p:tgtEl>
                  <p:spTgt spid="4"/>
                </p:tgtEl>
              </p:cMediaNode>
            </p:video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부록 · 논문 전문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부록 · ㈜씨엔 공급 약정서 전문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부록 · SKM&amp;M 업무협약서 전문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부록 · 마약류 처방량과 보도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부록 · 업무 부담 완화 근거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부록 · 동물병원 분쟁 상세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부록 · 수액 카테터 합병증 근거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부록 · 보호자 지출과 시장 산출식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부록 · 반려동물 소비 고급화 — 사례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부록 · 반려동물 지출 추세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39</Slides>
  <Notes>39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39</vt:i4>
      </vt:variant>
    </vt:vector>
  </HeadingPairs>
  <TitlesOfParts>
    <vt:vector size="4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</vt:vector>
  </TitlesOfParts>
  <Company>WON SHOT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INFU RETRO — 반려동물 주사약물 투약 관리 AIoT 솔루션</dc:title>
  <dc:subject>2026 NEXT WAVE-UP 아이디어 리그 · 일반·기술 트랙</dc:subject>
  <dc:creator>WON SHOT</dc:creator>
  <cp:lastModifiedBy>WON SHOT</cp:lastModifiedBy>
  <cp:revision>1</cp:revision>
  <dcterms:created xsi:type="dcterms:W3CDTF">2026-10-28T16:26:28Z</dcterms:created>
  <dcterms:modified xsi:type="dcterms:W3CDTF">2026-10-28T16:26:28Z</dcterms:modified>
</cp:coreProperties>
</file>