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5014686d-8f12-41e5-af37-03bfccbf8b29}">
          <p14:sldIdLst>
            <p14:sldId id="256"/>
          </p14:sldIdLst>
        </p14:section>
        <p14:section name="01 문제 배경" id="{19acc746-8583-4332-0c72-2fc144def1f5}">
          <p14:sldIdLst>
            <p14:sldId id="257"/>
            <p14:sldId id="258"/>
            <p14:sldId id="259"/>
          </p14:sldIdLst>
        </p14:section>
        <p14:section name="02 기존 시스템의 한계" id="{67f3d593-79dd-f1f5-ef4c-f5b25b5e19d7}">
          <p14:sldIdLst>
            <p14:sldId id="260"/>
          </p14:sldIdLst>
        </p14:section>
        <p14:section name="03 아이디어 소개" id="{1558a19f-ecf8-b7fc-3051-c23742b1721e}">
          <p14:sldIdLst>
            <p14:sldId id="261"/>
            <p14:sldId id="262"/>
            <p14:sldId id="263"/>
          </p14:sldIdLst>
        </p14:section>
        <p14:section name="04 시연" id="{ca2f6c8e-8fe1-7cc9-bfcc-6b4f97431996}">
          <p14:sldIdLst>
            <p14:sldId id="264"/>
            <p14:sldId id="265"/>
            <p14:sldId id="266"/>
          </p14:sldIdLst>
        </p14:section>
        <p14:section name="05 시장분석" id="{ae93c98d-c30f-f617-da49-a1d5acc5dbbd}">
          <p14:sldIdLst>
            <p14:sldId id="267"/>
          </p14:sldIdLst>
        </p14:section>
        <p14:section name="06 차별점" id="{0fc6d69d-dfd9-3a3b-e9b3-1b395bc6f52b}">
          <p14:sldIdLst>
            <p14:sldId id="268"/>
            <p14:sldId id="269"/>
          </p14:sldIdLst>
        </p14:section>
        <p14:section name="07 제품 원가" id="{200abc7e-56a4-ea9a-192f-75c4d7981338}">
          <p14:sldIdLst>
            <p14:sldId id="270"/>
          </p14:sldIdLst>
        </p14:section>
        <p14:section name="08 MOU 체결 현황" id="{75d11882-1d88-9ce8-c4c4-8a8d2e929024}">
          <p14:sldIdLst>
            <p14:sldId id="271"/>
          </p14:sldIdLst>
        </p14:section>
        <p14:section name="09 시장 진입 전략" id="{3c1aaa4b-5d67-aaf0-cbe9-896dedfc03e6}">
          <p14:sldIdLst>
            <p14:sldId id="272"/>
          </p14:sldIdLst>
        </p14:section>
        <p14:section name="10 비즈니스 모델" id="{5eb61da4-f254-bcc0-ca8f-b26a4592f7ec}">
          <p14:sldIdLst>
            <p14:sldId id="273"/>
          </p14:sldIdLst>
        </p14:section>
        <p14:section name="11 기대효과" id="{2a343fd7-1808-c2f9-684f-c4a7e491da5c}">
          <p14:sldIdLst>
            <p14:sldId id="274"/>
          </p14:sldIdLst>
        </p14:section>
        <p14:section name="12 팀 소개" id="{36873651-4775-7c8a-f9f5-a0a390fab9cd}">
          <p14:sldIdLst>
            <p14:sldId id="275"/>
          </p14:sldIdLst>
        </p14:section>
        <p14:section name="마무리" id="{f1572e95-db41-bd59-7252-f73bbaf7c726}">
          <p14:sldIdLst>
            <p14:sldId id="276"/>
          </p14:sldIdLst>
        </p14:section>
        <p14:section name="부록" id="{4effbdcf-af01-a51c-f3a9-cce1c57d3820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/ 21 · 대본 약 8초
</a:t>
            </a:r>
            <a:br/>
            <a:r>
              <a:rPr lang="ko-KR" dirty="0"/>
              <a:t>안녕하십니까, 팀 WON SHOT입니다. 입원 동물의 수액을, 링거폴대 그대로 지키는 솔루션을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/ 21 · 대본 약 15초
</a:t>
            </a:r>
            <a:br/>
            <a:r>
              <a:rPr lang="ko-KR" dirty="0"/>
              <a:t>새벽 3시, 동물병원 입원실입니다. 보호자는 집에 있고, 당직 수의사는 다른 환자를 봅니다.
</a:t>
            </a:r>
            <a:br/>
            <a:r>
              <a:rPr lang="ko-KR" dirty="0"/>
              <a:t>이 시간 수액에 생긴 일은 확인되지도, 기록되지도 않습니다. 저희가 푸는 문제는 이 두 공백입니다.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/ 21 · 대본 약 14초
</a:t>
            </a:r>
            <a:br/>
            <a:r>
              <a:rPr lang="ko-KR" dirty="0"/>
              <a:t>첫째, 확인 공백입니다. 입원 동물 수액 카테터의 26.7%에서 정맥염이나 빠짐 같은 합병증이 생깁니다.
</a:t>
            </a:r>
            <a:br/>
            <a:r>
              <a:rPr lang="ko-KR" dirty="0"/>
              <a:t>그런데 24시간 지켜보는 병원은 서울 100곳 중 8곳뿐입니다.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/ 21 · 대본 약 16초
</a:t>
            </a:r>
            <a:br/>
            <a:r>
              <a:rPr lang="ko-KR" dirty="0"/>
              <a:t>둘째, 기록 공백입니다. 피해구제 신청은 4년 만에 세 배로 늘었습니다.
</a:t>
            </a:r>
            <a:br/>
            <a:r>
              <a:rPr lang="ko-KR" dirty="0"/>
              <a:t>진료기록이 있으면 30%가 해결되지만, 없으면 19.5%에 그칩니다. 기록이 자동으로 남아야 하는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/ 21 · 대본 약 20초
</a:t>
            </a:r>
            <a:br/>
            <a:r>
              <a:rPr lang="ko-KR" dirty="0"/>
              <a:t>손 기록엔 빈칸이 생기고, 병원 열 곳 중 일곱 곳은 수의사 한 명이라 순회 사이를 못 봅니다.
</a:t>
            </a:r>
            <a:br/>
            <a:r>
              <a:rPr lang="ko-KR" dirty="0"/>
              <a:t>장비는 110만 원 펌프, 100만 원이 넘는 다중 센서 폴대라 너무 비쌉니다. 그래서 필요한 건, 자동으로 남고 24시간 지키는, 기존 폴대에 붙는 센서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/ 21 · 대본 약 16초
</a:t>
            </a:r>
            <a:br/>
            <a:r>
              <a:rPr lang="ko-KR" dirty="0"/>
              <a:t>저희는 현장에서 시작했습니다. 전북 지역 병원을 찾아가 인터뷰하며 데이터를 모았고, 원광대 간호학과와 모의 병실을 꾸려 실험했습니다.
</a:t>
            </a:r>
            <a:br/>
            <a:r>
              <a:rPr lang="ko-KR" dirty="0"/>
              <a:t>수의과대학과 유통사에서는 구매 의사까지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/ 21 · 대본 약 20초
</a:t>
            </a:r>
            <a:br/>
            <a:r>
              <a:rPr lang="ko-KR" dirty="0"/>
              <a:t>해법은 INFU RETRO, 링거폴대에 거는 무게센서 모듈 하나입니다. 1초마다 수액 무게를 재고, 칼만필터로 흔들림을 거르고, CNN이 이상을 판별합니다.
</a:t>
            </a:r>
            <a:br/>
            <a:r>
              <a:rPr lang="ko-KR" dirty="0"/>
              <a:t>걸고, 재고, 알립니다. 폴대 교체도 공구도 필요 없고, 네 개를 함께 재는 폴대 걸이형도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/ 21 · 대본 약 18초
</a:t>
            </a:r>
            <a:br/>
            <a:r>
              <a:rPr lang="ko-KR" dirty="0"/>
              <a:t>기존 스마트 폴대는 자이로, 가속도 센서를 더해 제작비가 100만 원을 넘습니다.
</a:t>
            </a:r>
            <a:br/>
            <a:r>
              <a:rPr lang="ko-KR" dirty="0"/>
              <a:t>저희는 학습할 때만 자이로를 달아, 흔들릴 때 무게가 얼마나 틀어지는지 배우게 했습니다. 그 보정 덕분에 제품에는 무게센서 하나만 남았습니다.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/ 21 · 대본 약 12초
</a:t>
            </a:r>
            <a:br/>
            <a:r>
              <a:rPr lang="ko-KR" dirty="0"/>
              <a:t>실제 시연입니다. 수액백을 걸고 유속을 바꾸면, 빠를 때도 느릴 때도 대시보드와 휴대폰에 바로 알림이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/ 21 · 대본 약 17초
</a:t>
            </a:r>
            <a:br/>
            <a:r>
              <a:rPr lang="ko-KR" dirty="0"/>
              <a:t>알고리즘은 논문으로 검증했습니다. 유속을 느림, 정상, 빠름 세 상태로 바꾸고, 16개를 4×4 패턴으로 만들어 CNN이 봅니다. 순간 흔들림과 진짜 이상을 구분합니다.
</a:t>
            </a:r>
            <a:br/>
            <a:r>
              <a:rPr lang="ko-KR" dirty="0"/>
              <a:t>경량 모델이라 기기 안에서 바로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/ 21 · 대본 약 18초
</a:t>
            </a:r>
            <a:br/>
            <a:r>
              <a:rPr lang="ko-KR" dirty="0"/>
              <a:t>당겨짐과 흔들림을 1,000회 반복한 시험에서, 잔량 오차 3% 이내, 이상 감지 5초 이내, 판별 정확도 97.3%를 확인했습니다.
</a:t>
            </a:r>
            <a:br/>
            <a:r>
              <a:rPr lang="ko-KR" dirty="0"/>
              <a:t>특허 3건이 심사 중이고, 다음은 전북 동물병원 입원실에서 실제 환경으로 다시 검증합니다.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/ 21 · 대본 약 17초
</a:t>
            </a:r>
            <a:br/>
            <a:r>
              <a:rPr lang="ko-KR" dirty="0"/>
              <a:t>반려가구는 29.2%로 역대 최대, 동물병원은 5,312곳입니다.
</a:t>
            </a:r>
            <a:br/>
            <a:r>
              <a:rPr lang="ko-KR" dirty="0"/>
              <a:t>진료기록 발급 의무화가 추진되고, 마약류 처방은 3년 새 37% 늘었습니다. 기록을 요구하는 지금이 진입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/ 21 · 대본 약 13초
</a:t>
            </a:r>
            <a:br/>
            <a:r>
              <a:rPr lang="ko-KR" dirty="0"/>
              <a:t>대안과 비교하면, 펌프는 비싸고, 다른 제품은 사람 병원용이거나 폴대를 바꿔야 합니다.
</a:t>
            </a:r>
            <a:br/>
            <a:r>
              <a:rPr lang="ko-KR" dirty="0"/>
              <a:t>INFU RETRO는 25만 원에, 기존 폴대에 끼우는 동물병원 전용 제품입니다.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/ 21 · 대본 약 14초
</a:t>
            </a:r>
            <a:br/>
            <a:r>
              <a:rPr lang="ko-KR" dirty="0"/>
              <a:t>인허가도 가볍습니다. 동물 전용 기기는 식약처가 아니라 농림축산검역본부 소관입니다.
</a:t>
            </a:r>
            <a:br/>
            <a:r>
              <a:rPr lang="ko-KR" dirty="0"/>
              <a:t>몸에 닿지 않고 주입도 제어하지 않아, 신고만 하면 되는 가장 낮은 1등급 기준에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/ 21 · 대본 약 10초
</a:t>
            </a:r>
            <a:br/>
            <a:r>
              <a:rPr lang="ko-KR" dirty="0"/>
              <a:t>센서를 하나로 줄여 원가는 8만 원, 25만 원에 팔면 대당 17만 원이 남습니다.
</a:t>
            </a:r>
            <a:br/>
            <a:r>
              <a:rPr lang="ko-KR" dirty="0"/>
              <a:t>월 12만 원 구독료에는 관리비가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/ 21 · 대본 약 12초
</a:t>
            </a:r>
            <a:br/>
            <a:r>
              <a:rPr lang="ko-KR" dirty="0"/>
              <a:t>판로는 문서로 확인했습니다. 전남대 수의과대학 구매의향서, ㈜씨엔 최소 300개 공급 약정, 그리고 유통사 SKM&amp;M과 5,000만 원 규모 MOU입니다.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/ 21 · 대본 약 11초
</a:t>
            </a:r>
            <a:br/>
            <a:r>
              <a:rPr lang="ko-KR" dirty="0"/>
              <a:t>전국 5,312곳, 약 449억 원 시장 가운데 호남권 300곳을 먼저 공략해, 3년 안에 50곳 250대, 연 4억 원 규모를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/ 21 · 대본 약 19초
</a:t>
            </a:r>
            <a:br/>
            <a:r>
              <a:rPr lang="ko-KR" dirty="0"/>
              <a:t>수익은 두 갈래입니다. 모듈은 대당 25만 원에 한 번 팔고, 관제 구독으로 대당 월 12만 원을 매달 받습니다. 직접 판매와 유통 파트너로 동물병원, 수의대, 동물원에 팔고, 인증을 거쳐 사람 대형병원과 간호인력이 부족한 해외 시설로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/ 21 · 대본 약 17초
</a:t>
            </a:r>
            <a:br/>
            <a:r>
              <a:rPr lang="ko-KR" dirty="0"/>
              <a:t>사람 병원에선 효과가 확인됐습니다. 근무조당 병실 방문이 두 번 줄었다는 응답이 나왔고, 이상 알림 뒤 평균 2분 만에 대응했습니다.
</a:t>
            </a:r>
            <a:br/>
            <a:r>
              <a:rPr lang="ko-KR" dirty="0"/>
              <a:t>동물병원은 순회와 기록 부담을 덜고, 반려동물은 이상을 먼저 발견합니다.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/ 21 · 대본 약 8초
</a:t>
            </a:r>
            <a:br/>
            <a:r>
              <a:rPr lang="ko-KR" dirty="0"/>
              <a:t>개발팀 네 명이 하드웨어와 AI, 서버를, 의료실증팀 세 명이 현장 시험을 맡은 팀, WON SHOT입니다.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/ 21 · 대본 약 5초
</a:t>
            </a:r>
            <a:br/>
            <a:r>
              <a:rPr lang="ko-KR" dirty="0"/>
              <a:t>말하지 못하는 생명에게, 기록은 목소리가 됩니다.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
</a:t>
            </a:r>
            <a:br/>
            <a:r>
              <a:rPr lang="ko-KR" dirty="0"/>
              <a:t>질의응답용: 네 단계 파이프라인과 CNN 학습 로그입니다. 97.3%는 마지막 6 epoch 검증 정확도의 평균이고, 범위는 95.2~99.0%입니다.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
</a:t>
            </a:r>
            <a:br/>
            <a:r>
              <a:rPr lang="ko-KR" dirty="0"/>
              <a:t>질의응답용: 학습 장비에서 자이로와 무게 편차의 관계를 보여 주는 모의 신호입니다. 폴대가 흔들리면 무게도 같이 출렁이는데, 그 편차가 자이로 값과 0.95로 거의 같이 움직입니다.
</a:t>
            </a:r>
            <a:br/>
            <a:r>
              <a:rPr lang="ko-KR" dirty="0"/>
              <a:t>이 관계를 학습한 보정을 적용하면 편차가 2.1 g에서 0.5 g으로 줄어듭니다. 그래서 제품에서는 자이로를 빼고 무게센서 하나만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A3
</a:t>
            </a:r>
            <a:br/>
            <a:r>
              <a:rPr lang="ko-KR" dirty="0"/>
              <a:t>질의응답용: 60×35mm 자체 PCB에 무게센서 하나만 올렸고, 이벤트 전송으로 트래픽을 80% 이상 줄였습니다.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A4
</a:t>
            </a:r>
            <a:br/>
            <a:r>
              <a:rPr lang="ko-KR" dirty="0"/>
              <a:t>질의응답용: 폴대 걸이형 INFU입니다. 폴대 꼭대기에 십자형 걸이를 끼우는 형태로, 갈고리 네 곳마다 로드셀이 들어갑니다.
</a:t>
            </a:r>
            <a:br/>
            <a:r>
              <a:rPr lang="ko-KR" dirty="0"/>
              <a:t>왼쪽이 실물 시제품, 가운데가 구조 렌더 영상, 오른쪽이 2차 구상도와 부품 리스트입니다.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A5
</a:t>
            </a:r>
            <a:br/>
            <a:r>
              <a:rPr lang="ko-KR" dirty="0"/>
              <a:t>질의응답용: 국내 학회 발표 논문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A6
</a:t>
            </a:r>
            <a:br/>
            <a:r>
              <a:rPr lang="ko-KR" dirty="0"/>
              <a:t>질의응답용: ㈜씨엔과 맺은 물품공급 및 판매 약정서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A7
</a:t>
            </a:r>
            <a:br/>
            <a:r>
              <a:rPr lang="ko-KR" dirty="0"/>
              <a:t>질의응답용: ㈜에스케이엠엔엠과 맺은 구매의향 및 사업협력 업무협약서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A8
</a:t>
            </a:r>
            <a:br/>
            <a:r>
              <a:rPr lang="ko-KR" dirty="0"/>
              <a:t>질의응답용: 마약류 처방량 추이와 기록을 요구하는 규제 흐름입니다. 진료기록 발급 의무화는 아직 국회 의결 단계라 시행일이 정해지지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A9
</a:t>
            </a:r>
            <a:br/>
            <a:r>
              <a:rPr lang="ko-KR" dirty="0"/>
              <a:t>질의응답용: 업무 부담 완화 근거입니다. 사람 병원 연구 두 편과 동물병원 인력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A10
</a:t>
            </a:r>
            <a:br/>
            <a:r>
              <a:rPr lang="ko-KR" dirty="0"/>
              <a:t>질의응답용: 4장 분쟁 자료의 상세입니다. 처리된 121건 중 해결은 32건이고, 진료부가 있으면 30%, 없으면 19.5%가 해결됐습니다.
</a:t>
            </a:r>
            <a:br/>
            <a:r>
              <a:rPr lang="ko-KR" dirty="0"/>
              <a:t>신청 사유의 75%가 진료상 과실이고 그중 처치 미흡이 가장 많습니다. 소비자원도 객관적 기록을 남기라고 권했습니다.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A11
</a:t>
            </a:r>
            <a:br/>
            <a:r>
              <a:rPr lang="ko-KR" dirty="0"/>
              <a:t>질의응답용: 3장 26.7%의 근거입니다. 연구마다 19.9에서 46.6%까지 다르고, 가장 큰 다기관 연구의 값을 썼습니다. 단위는 동물이 아니라 카테터입니다.
</a:t>
            </a:r>
            <a:br/>
            <a:r>
              <a:rPr lang="ko-KR" dirty="0"/>
              <a:t>무게로는 막힘과 빠짐을 직접 잡고, 정맥염은 유속이 느려질 때 간접적으로만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A12
</a:t>
            </a:r>
            <a:br/>
            <a:r>
              <a:rPr lang="ko-KR" dirty="0"/>
              <a:t>질의응답용: 보호자 지출과 시장 규모 산출식입니다. 최근 2년 치료비는 전체 가구 평균 57.7만 원에서 102.7만 원으로 늘었습니다.
</a:t>
            </a:r>
            <a:br/>
            <a:r>
              <a:rPr lang="ko-KR" dirty="0"/>
              <a:t>시장 규모는 병원당 5대, 장비와 첫해 구독을 더한 845만 원에 병원 수를 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A13
</a:t>
            </a:r>
            <a:br/>
            <a:r>
              <a:rPr lang="ko-KR" dirty="0"/>
              <a:t>질의응답용: 보호자 지출이 사람 수준으로 올라온 사례입니다. 청담동 반려견 오마카세는 7코스에 최대 7만 8천 원, 펫보험 계약은 3년 새 3.5배가 됐습니다.
</a:t>
            </a:r>
            <a:br/>
            <a:r>
              <a:rPr lang="ko-KR" dirty="0"/>
              <a:t>지출이 커진 만큼 진료 분쟁도 늘어, 기록의 필요가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video" Target="../media/media-25-2.mp4"/><Relationship Id="rId3" Type="http://schemas.microsoft.com/office/2007/relationships/media" Target="../media/media-25-2.mp4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반려동물 주사약물 투약 관리 AIoT 솔루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새벽 3시, 동물병원 입원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① 확인 공백 — 26.7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② 기록 공백 — 해결률 19.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지금 방식으로는 두 공백을 메울 수 없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현장에서 듣고 만들었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FU RETRO — 링거폴대에 모듈 하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센서는 줄이고, 학습으로 채웠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연 영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31" y="1413570"/>
            <a:ext cx="6897515" cy="3879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논문 — 상태 패턴 분석 기반 수액 이상 감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검증 성과 — 숫자로 증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장 — 수요와 기록 의무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차별점 — 대안 비교와 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인허가 — 사람용 의료기기 허가 없이 공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제품 원가와 수익 구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구매의향 · 공급 약정 · M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전북에서 증명하고, 전국 5,312곳으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모듈은 한 번, 관제는 매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순회는 줄이고, 먼저 알아챕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팀 WON 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말하지 못하는 생명에게, 기록은 목소리가 됩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핵심 알고리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센서 절감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하드웨어 · PC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INFU 폴대 걸이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0697" y="1559620"/>
            <a:ext cx="2863580" cy="41331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 repeatCount="indefinite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논문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㈜씨엔 공급 약정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SKM&amp;M 업무협약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마약류 처방량과 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업무 부담 완화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동물병원 분쟁 상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수액 카테터 합병증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보호자 지출과 시장 산출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소비 고급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WON 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INFU RETRO — 반려동물 주사약물 투약 관리 AIoT 솔루션</dc:title>
  <dc:subject>2026 NEXT WAVE-UP 아이디어 리그 · 일반·기술 트랙</dc:subject>
  <dc:creator>WON SHOT</dc:creator>
  <cp:lastModifiedBy>WON SHOT</cp:lastModifiedBy>
  <cp:revision>1</cp:revision>
  <dcterms:created xsi:type="dcterms:W3CDTF">2026-10-28T15:13:45Z</dcterms:created>
  <dcterms:modified xsi:type="dcterms:W3CDTF">2026-10-28T15:13:45Z</dcterms:modified>
</cp:coreProperties>
</file>