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0804fa20-6164-1942-8e62-de193dbfb9a0}">
          <p14:sldIdLst>
            <p14:sldId id="256"/>
          </p14:sldIdLst>
        </p14:section>
        <p14:section name="01 문제 배경" id="{7714e262-bb5e-6528-5184-1458fc2239dc}">
          <p14:sldIdLst>
            <p14:sldId id="257"/>
            <p14:sldId id="258"/>
            <p14:sldId id="259"/>
          </p14:sldIdLst>
        </p14:section>
        <p14:section name="02 기존 시스템의 한계" id="{d2be28d8-978f-f554-e3a4-4da6388b065c}">
          <p14:sldIdLst>
            <p14:sldId id="260"/>
          </p14:sldIdLst>
        </p14:section>
        <p14:section name="03 아이디어 소개" id="{325c6fd7-2d2d-5df2-15be-c2f94004b431}">
          <p14:sldIdLst>
            <p14:sldId id="261"/>
            <p14:sldId id="262"/>
            <p14:sldId id="263"/>
          </p14:sldIdLst>
        </p14:section>
        <p14:section name="04 시연" id="{6695c87d-8391-3da4-20bc-b007919aeed6}">
          <p14:sldIdLst>
            <p14:sldId id="264"/>
            <p14:sldId id="265"/>
            <p14:sldId id="266"/>
          </p14:sldIdLst>
        </p14:section>
        <p14:section name="05 시장분석" id="{33053dd6-fb7c-f37c-21c4-225e10b0f6fb}">
          <p14:sldIdLst>
            <p14:sldId id="267"/>
          </p14:sldIdLst>
        </p14:section>
        <p14:section name="06 차별점" id="{7af44384-24c8-b854-a3c4-cf923c255b00}">
          <p14:sldIdLst>
            <p14:sldId id="268"/>
            <p14:sldId id="269"/>
          </p14:sldIdLst>
        </p14:section>
        <p14:section name="07 제품 원가" id="{5a254f52-e116-0679-ef66-2568ebfa2c32}">
          <p14:sldIdLst>
            <p14:sldId id="270"/>
          </p14:sldIdLst>
        </p14:section>
        <p14:section name="08 MOU 체결 현황" id="{f095a80b-ae5b-59ef-13aa-6c68404a3994}">
          <p14:sldIdLst>
            <p14:sldId id="271"/>
          </p14:sldIdLst>
        </p14:section>
        <p14:section name="09 시장 진입 전략" id="{bbb6bed4-b596-356d-baa1-df5ceae40bd0}">
          <p14:sldIdLst>
            <p14:sldId id="272"/>
          </p14:sldIdLst>
        </p14:section>
        <p14:section name="10 기대효과" id="{d9f1b561-ead0-bd6a-cb38-69a4e5435303}">
          <p14:sldIdLst>
            <p14:sldId id="273"/>
          </p14:sldIdLst>
        </p14:section>
        <p14:section name="11 팀 소개" id="{2eaa6a83-8121-2ae4-0ddf-c464dfa8b028}">
          <p14:sldIdLst>
            <p14:sldId id="274"/>
          </p14:sldIdLst>
        </p14:section>
        <p14:section name="마무리" id="{bff22378-d277-7839-b630-bab9dfbe5281}">
          <p14:sldIdLst>
            <p14:sldId id="275"/>
          </p14:sldIdLst>
        </p14:section>
        <p14:section name="부록" id="{87c187b8-168e-1e59-7bc6-d76dc443495d}">
          <p14:sldIdLst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/ 20 · 대본 약 8초
</a:t>
            </a:r>
            <a:br/>
            <a:r>
              <a:rPr lang="ko-KR" dirty="0"/>
              <a:t>안녕하십니까, INFUTECH입니다. 입원 동물의 수액을, 링거폴대 그대로 지키는 솔루션을 소개합니다.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/ 20 · 대본 약 15초
</a:t>
            </a:r>
            <a:br/>
            <a:r>
              <a:rPr lang="ko-KR" dirty="0"/>
              <a:t>새벽 3시, 동물병원 입원실입니다. 보호자는 집에 있고, 당직 수의사는 다른 환자를 봅니다.
</a:t>
            </a:r>
            <a:br/>
            <a:r>
              <a:rPr lang="ko-KR" dirty="0"/>
              <a:t>이 시간 수액에 생긴 일은 확인되지도, 기록되지도 않습니다. 저희가 푸는 문제는 이 두 공백입니다.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/ 20 · 대본 약 14초
</a:t>
            </a:r>
            <a:br/>
            <a:r>
              <a:rPr lang="ko-KR" dirty="0"/>
              <a:t>첫째, 확인 공백입니다. 입원 동물 수액 카테터의 26.7%에서 정맥염이나 빠짐 같은 합병증이 생깁니다.
</a:t>
            </a:r>
            <a:br/>
            <a:r>
              <a:rPr lang="ko-KR" dirty="0"/>
              <a:t>그런데 24시간 지켜보는 병원은 서울 100곳 중 8곳뿐입니다.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/ 20 · 대본 약 16초
</a:t>
            </a:r>
            <a:br/>
            <a:r>
              <a:rPr lang="ko-KR" dirty="0"/>
              <a:t>둘째, 기록 공백입니다. 피해구제 신청은 4년 만에 세 배로 늘었습니다.
</a:t>
            </a:r>
            <a:br/>
            <a:r>
              <a:rPr lang="ko-KR" dirty="0"/>
              <a:t>진료기록이 있으면 30%가 해결되지만, 없으면 19.5%에 그칩니다. 기록이 자동으로 남아야 하는 이유입니다.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/ 20 · 대본 약 20초
</a:t>
            </a:r>
            <a:br/>
            <a:r>
              <a:rPr lang="ko-KR" dirty="0"/>
              <a:t>손 기록엔 빈칸이 생기고, 병원 열 곳 중 일곱 곳은 수의사 한 명이라 순회 사이를 못 봅니다.
</a:t>
            </a:r>
            <a:br/>
            <a:r>
              <a:rPr lang="ko-KR" dirty="0"/>
              <a:t>장비는 110만 원 펌프, 100만 원이 넘는 다중 센서 폴대라 너무 비쌉니다. 그래서 필요한 건, 자동으로 남고 24시간 지키는, 기존 폴대에 붙는 센서 하나입니다.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 / 20 · 대본 약 16초
</a:t>
            </a:r>
            <a:br/>
            <a:r>
              <a:rPr lang="ko-KR" dirty="0"/>
              <a:t>저희는 현장에서 시작했습니다. 전북 지역 병원을 찾아가 인터뷰하며 데이터를 모았고, 원광대 간호학과와 모의 병실을 꾸려 실험했습니다.
</a:t>
            </a:r>
            <a:br/>
            <a:r>
              <a:rPr lang="ko-KR" dirty="0"/>
              <a:t>수의과대학과 유통사에서는 구매 의사까지 확인했습니다.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 / 20 · 대본 약 20초
</a:t>
            </a:r>
            <a:br/>
            <a:r>
              <a:rPr lang="ko-KR" dirty="0"/>
              <a:t>해법은 INFU RETRO, 링거폴대에 거는 무게센서 모듈 하나입니다. 1초마다 수액 무게를 재고, 칼만필터로 흔들림을 거르고, CNN이 이상을 판별합니다.
</a:t>
            </a:r>
            <a:br/>
            <a:r>
              <a:rPr lang="ko-KR" dirty="0"/>
              <a:t>걸고, 재고, 알립니다. 폴대 교체도 공구도 필요 없고, 네 개를 함께 재는 폴대 걸이형도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 / 20 · 대본 약 18초
</a:t>
            </a:r>
            <a:br/>
            <a:r>
              <a:rPr lang="ko-KR" dirty="0"/>
              <a:t>기존 스마트 폴대는 자이로, 가속도 센서를 더해 제작비가 100만 원을 넘습니다.
</a:t>
            </a:r>
            <a:br/>
            <a:r>
              <a:rPr lang="ko-KR" dirty="0"/>
              <a:t>저희는 학습할 때만 자이로를 달아, 흔들릴 때 무게가 얼마나 틀어지는지 배우게 했습니다. 그 보정 덕분에 제품에는 무게센서 하나만 남았습니다.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 / 20 · 대본 약 27초
</a:t>
            </a:r>
            <a:br/>
            <a:r>
              <a:rPr lang="ko-KR" dirty="0"/>
              <a:t>실제 시연입니다. 수액백을 걸고 유속을 바꾸면, 빠를 때도 느릴 때도 대시보드와 휴대폰에 바로 알림이 뜹니다.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 / 20 · 대본 약 17초
</a:t>
            </a:r>
            <a:br/>
            <a:r>
              <a:rPr lang="ko-KR" dirty="0"/>
              <a:t>알고리즘은 논문으로 검증했습니다. 유속을 느림, 정상, 빠름 세 상태로 바꾸고, 16개를 4×4 패턴으로 만들어 CNN이 봅니다. 순간 흔들림과 진짜 이상을 구분합니다.
</a:t>
            </a:r>
            <a:br/>
            <a:r>
              <a:rPr lang="ko-KR" dirty="0"/>
              <a:t>경량 모델이라 기기 안에서 바로 판정합니다.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 / 20 · 대본 약 18초
</a:t>
            </a:r>
            <a:br/>
            <a:r>
              <a:rPr lang="ko-KR" dirty="0"/>
              <a:t>당겨짐과 흔들림을 1,000회 반복한 시험에서, 잔량 오차 3% 이내, 이상 감지 5초 이내, 판별 정확도 97.3%를 확인했습니다.
</a:t>
            </a:r>
            <a:br/>
            <a:r>
              <a:rPr lang="ko-KR" dirty="0"/>
              <a:t>특허 3건이 심사 중이고, 다음은 전북 동물병원 입원실에서 실제 환경으로 다시 검증합니다.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 / 20 · 대본 약 17초
</a:t>
            </a:r>
            <a:br/>
            <a:r>
              <a:rPr lang="ko-KR" dirty="0"/>
              <a:t>반려가구는 29.2%로 역대 최대, 동물병원은 5,312곳입니다.
</a:t>
            </a:r>
            <a:br/>
            <a:r>
              <a:rPr lang="ko-KR" dirty="0"/>
              <a:t>진료기록 발급 의무화가 추진되고, 마약류 처방은 3년 새 37% 늘었습니다. 기록을 요구하는 지금이 진입 시점입니다.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 / 20 · 대본 약 13초
</a:t>
            </a:r>
            <a:br/>
            <a:r>
              <a:rPr lang="ko-KR" dirty="0"/>
              <a:t>대안과 비교하면, 펌프는 비싸고, 다른 제품은 사람 병원용이거나 폴대를 바꿔야 합니다.
</a:t>
            </a:r>
            <a:br/>
            <a:r>
              <a:rPr lang="ko-KR" dirty="0"/>
              <a:t>INFU RETRO는 25만 원에, 기존 폴대에 끼우는 동물병원 전용 제품입니다.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 / 20 · 대본 약 14초
</a:t>
            </a:r>
            <a:br/>
            <a:r>
              <a:rPr lang="ko-KR" dirty="0"/>
              <a:t>인허가도 가볍습니다. 동물 전용 기기는 식약처가 아니라 농림축산검역본부 소관입니다.
</a:t>
            </a:r>
            <a:br/>
            <a:r>
              <a:rPr lang="ko-KR" dirty="0"/>
              <a:t>몸에 닿지 않고 주입도 제어하지 않아, 신고만 하면 되는 가장 낮은 1등급 기준에 맞습니다.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 / 20 · 대본 약 15초
</a:t>
            </a:r>
            <a:br/>
            <a:r>
              <a:rPr lang="ko-KR" dirty="0"/>
              <a:t>센서를 하나로 줄여 원가는 8만 원, 25만 원에 팔면 대당 17만 원이 남습니다.
</a:t>
            </a:r>
            <a:br/>
            <a:r>
              <a:rPr lang="ko-KR" dirty="0"/>
              <a:t>월 12만 원 구독은 관리비를 포함한 금액으로, 펌프 운용 비용과 손으로 기록하는 수고를 대신합니다.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 / 20 · 대본 약 12초
</a:t>
            </a:r>
            <a:br/>
            <a:r>
              <a:rPr lang="ko-KR" dirty="0"/>
              <a:t>판로는 문서로 확인했습니다. 전남대 수의과대학 구매의향서, ㈜씨엔 최소 300개 공급 약정, 그리고 유통사 SKM&amp;M과 5,000만 원 규모 MOU입니다.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 / 20 · 대본 약 11초
</a:t>
            </a:r>
            <a:br/>
            <a:r>
              <a:rPr lang="ko-KR" dirty="0"/>
              <a:t>전국 5,312곳, 약 449억 원 시장 가운데 호남권 300곳을 먼저 공략해, 3년 안에 50곳 250대, 연 4억 원 규모를 만듭니다.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 / 20 · 대본 약 17초
</a:t>
            </a:r>
            <a:br/>
            <a:r>
              <a:rPr lang="ko-KR" dirty="0"/>
              <a:t>사람 병원에선 효과가 확인됐습니다. 근무조당 병실 방문이 두 번 줄었다는 응답이 나왔고, 이상 알림 뒤 평균 2분 만에 대응했습니다.
</a:t>
            </a:r>
            <a:br/>
            <a:r>
              <a:rPr lang="ko-KR" dirty="0"/>
              <a:t>동물병원은 순회와 기록 부담을 덜고, 반려동물은 이상을 먼저 발견합니다.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19 / 20 · 대본 약 8초
</a:t>
            </a:r>
            <a:br/>
            <a:r>
              <a:rPr lang="ko-KR" dirty="0"/>
              <a:t>개발팀 네 명이 하드웨어와 AI, 서버를, 의료실증팀 세 명이 현장 시험을 맡은 팀, INFUTECH입니다.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 / 20 · 대본 약 4초
</a:t>
            </a:r>
            <a:br/>
            <a:r>
              <a:rPr lang="ko-KR" dirty="0"/>
              <a:t>말하지 못해도, 먼저 알아채겠습니다. 감사합니다.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A1
</a:t>
            </a:r>
            <a:br/>
            <a:r>
              <a:rPr lang="ko-KR" dirty="0"/>
              <a:t>질의응답용: 네 단계 파이프라인과 CNN 학습 로그입니다. 97.3%는 마지막 6 epoch 검증 정확도의 평균이고, 범위는 95.2~99.0%입니다.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A2
</a:t>
            </a:r>
            <a:br/>
            <a:r>
              <a:rPr lang="ko-KR" dirty="0"/>
              <a:t>질의응답용: 학습 장비에서 자이로와 무게 편차의 관계를 보여 주는 모의 신호입니다. 폴대가 흔들리면 무게도 같이 출렁이는데, 그 편차가 자이로 값과 0.95로 거의 같이 움직입니다.
</a:t>
            </a:r>
            <a:br/>
            <a:r>
              <a:rPr lang="ko-KR" dirty="0"/>
              <a:t>이 관계를 학습한 보정을 적용하면 편차가 2.1 g에서 0.5 g으로 줄어듭니다. 그래서 제품에서는 자이로를 빼고 무게센서 하나만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A3
</a:t>
            </a:r>
            <a:br/>
            <a:r>
              <a:rPr lang="ko-KR" dirty="0"/>
              <a:t>질의응답용: 60×35mm 자체 PCB에 무게센서 하나만 올렸고, 이벤트 전송으로 트래픽을 80% 이상 줄였습니다.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A4
</a:t>
            </a:r>
            <a:br/>
            <a:r>
              <a:rPr lang="ko-KR" dirty="0"/>
              <a:t>질의응답용: 폴대 걸이형 INFU입니다. 폴대 꼭대기에 십자형 걸이를 끼우는 형태로, 갈고리 네 곳마다 로드셀이 들어갑니다.
</a:t>
            </a:r>
            <a:br/>
            <a:r>
              <a:rPr lang="ko-KR" dirty="0"/>
              <a:t>왼쪽이 실물 시제품, 가운데가 구조 렌더 영상, 오른쪽이 2차 구상도와 부품 리스트입니다.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A5
</a:t>
            </a:r>
            <a:br/>
            <a:r>
              <a:rPr lang="ko-KR" dirty="0"/>
              <a:t>질의응답용: 국내 학회 발표 논문 전문입니다.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A6
</a:t>
            </a:r>
            <a:br/>
            <a:r>
              <a:rPr lang="ko-KR" dirty="0"/>
              <a:t>질의응답용: ㈜씨엔과 맺은 물품공급 및 판매 약정서 전문입니다.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A7
</a:t>
            </a:r>
            <a:br/>
            <a:r>
              <a:rPr lang="ko-KR" dirty="0"/>
              <a:t>질의응답용: ㈜에스케이엠엔엠과 맺은 구매의향 및 사업협력 업무협약서 전문입니다.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A8
</a:t>
            </a:r>
            <a:br/>
            <a:r>
              <a:rPr lang="ko-KR" dirty="0"/>
              <a:t>질의응답용: 마약류 처방량 추이와 기록을 요구하는 규제 흐름입니다. 진료기록 발급 의무화는 아직 국회 의결 단계라 시행일이 정해지지 않았습니다.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A9
</a:t>
            </a:r>
            <a:br/>
            <a:r>
              <a:rPr lang="ko-KR" dirty="0"/>
              <a:t>질의응답용: 업무 부담 완화 근거입니다. 사람 병원 연구 두 편과 동물병원 인력 구조입니다.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A10
</a:t>
            </a:r>
            <a:br/>
            <a:r>
              <a:rPr lang="ko-KR" dirty="0"/>
              <a:t>질의응답용: 4장 분쟁 자료의 상세입니다. 처리된 121건 중 해결은 32건이고, 진료부가 있으면 30%, 없으면 19.5%가 해결됐습니다.
</a:t>
            </a:r>
            <a:br/>
            <a:r>
              <a:rPr lang="ko-KR" dirty="0"/>
              <a:t>신청 사유의 75%가 진료상 과실이고 그중 처치 미흡이 가장 많습니다. 소비자원도 객관적 기록을 남기라고 권했습니다.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A11
</a:t>
            </a:r>
            <a:br/>
            <a:r>
              <a:rPr lang="ko-KR" dirty="0"/>
              <a:t>질의응답용: 3장 26.7%의 근거입니다. 연구마다 19.9에서 46.6%까지 다르고, 가장 큰 다기관 연구의 값을 썼습니다. 단위는 동물이 아니라 카테터입니다.
</a:t>
            </a:r>
            <a:br/>
            <a:r>
              <a:rPr lang="ko-KR" dirty="0"/>
              <a:t>무게로는 막힘과 빠짐을 직접 잡고, 정맥염은 유속이 느려질 때 간접적으로만 보입니다.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A12
</a:t>
            </a:r>
            <a:br/>
            <a:r>
              <a:rPr lang="ko-KR" dirty="0"/>
              <a:t>질의응답용: 보호자 지출과 시장 규모 산출식입니다. 최근 2년 치료비는 전체 가구 평균 57.7만 원에서 102.7만 원으로 늘었습니다.
</a:t>
            </a:r>
            <a:br/>
            <a:r>
              <a:rPr lang="ko-KR" dirty="0"/>
              <a:t>시장 규모는 병원당 5대, 장비와 첫해 구독을 더한 845만 원에 병원 수를 곱했습니다.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video" Target="../media/media-9-2.mp4"/><Relationship Id="rId3" Type="http://schemas.microsoft.com/office/2007/relationships/media" Target="../media/media-9-2.mp4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eg"/><Relationship Id="rId2" Type="http://schemas.openxmlformats.org/officeDocument/2006/relationships/video" Target="../media/media-24-2.mp4"/><Relationship Id="rId3" Type="http://schemas.microsoft.com/office/2007/relationships/media" Target="../media/media-24-2.mp4"/><Relationship Id="rId4" Type="http://schemas.openxmlformats.org/officeDocument/2006/relationships/image" Target="../media/image-2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반려동물 주사약물 투약 관리 AIoT 솔루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새벽 3시, 동물병원 입원실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① 확인 공백 — 26.7%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② 기록 공백 — 해결률 19.5%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지금 방식으로는 두 공백을 메울 수 없습니다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현장에서 듣고 만들었습니다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NFU RETRO — 링거폴대에 모듈 하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센서는 줄이고, 학습으로 채웠습니다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시연 영상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762031" y="1413570"/>
            <a:ext cx="6897515" cy="3879949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7" fill="hold" display="0">
                  <p:stCondLst>
                    <p:cond delay="indefinite"/>
                  </p:stCondLst>
                  <p:endCondLst>
                    <p:cond evt="onNext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논문 — 상태 패턴 분석 기반 수액 이상 감지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검증 성과 — 숫자로 증명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시장 — 수요와 기록 의무화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차별점 — 대안 비교와 I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인허가 — 사람용 의료기기 허가 없이 공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제품 원가와 수익 구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구매의향 · 공급 약정 · MOU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전북에서 증명하고, 전국 5,312곳으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순회는 줄이고, 먼저 알아챕니다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팀 INFUTE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감사합니다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핵심 알고리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센서 절감 학습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하드웨어 · PC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INFU 폴대 걸이형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4190697" y="1559620"/>
            <a:ext cx="2863580" cy="413315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7" fill="hold" display="0" repeatCount="indefinite">
                  <p:stCondLst>
                    <p:cond delay="indefinite"/>
                  </p:stCondLst>
                  <p:endCondLst>
                    <p:cond evt="onNext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논문 전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㈜씨엔 공급 약정서 전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SKM&amp;M 업무협약서 전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마약류 처방량과 보도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업무 부담 완화 근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동물병원 분쟁 상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수액 카테터 합병증 근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보호자 지출과 시장 산출식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WON 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INFU RETRO — 반려동물 주사약물 투약 관리 AIoT 솔루션</dc:title>
  <dc:subject>2026 NEXT WAVE-UP 아이디어 리그 · 일반·기술 트랙</dc:subject>
  <dc:creator>WON SHOT</dc:creator>
  <cp:lastModifiedBy>WON SHOT</cp:lastModifiedBy>
  <cp:revision>1</cp:revision>
  <dcterms:created xsi:type="dcterms:W3CDTF">2026-10-28T14:15:06Z</dcterms:created>
  <dcterms:modified xsi:type="dcterms:W3CDTF">2026-10-28T14:15:06Z</dcterms:modified>
</cp:coreProperties>
</file>